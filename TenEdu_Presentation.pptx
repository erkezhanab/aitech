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A8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FB9B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E4D5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Техника центра</c:v>
                </c:pt>
                <c:pt idx="1">
                  <c:v>Интернет и сеть</c:v>
                </c:pt>
                <c:pt idx="2">
                  <c:v>Расходники</c:v>
                </c:pt>
                <c:pt idx="3">
                  <c:v>IT-платформа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2648410</c:v>
                </c:pt>
                <c:pt idx="1">
                  <c:v>189000</c:v>
                </c:pt>
                <c:pt idx="2">
                  <c:v>84590</c:v>
                </c:pt>
                <c:pt idx="3">
                  <c:v>78000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3840480" cy="3840480"/>
          </a:xfrm>
          <a:prstGeom prst="ellipse">
            <a:avLst/>
          </a:prstGeom>
          <a:solidFill>
            <a:srgbClr val="0E8A8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F2A900">
              <a:alpha val="1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TeńEdu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Тең білім бәріне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3310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казахскоязычная платформа цифровой грамотности с universal design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" y="4114800"/>
            <a:ext cx="2926080" cy="0"/>
          </a:xfrm>
          <a:prstGeom prst="line">
            <a:avLst/>
          </a:prstGeom>
          <a:noFill/>
          <a:ln w="19050">
            <a:solidFill>
              <a:srgbClr val="0E8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Әбіл Еркежан Бағдатқызы   ·   Направление «Информационные технологии»   ·  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остаётся за бортом цифрового образования?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715768" cy="2926080"/>
          </a:xfrm>
          <a:prstGeom prst="roundRect">
            <a:avLst>
              <a:gd name="adj" fmla="val 336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28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54203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237 000+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13232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детей с особыми образовательными потребностями в Казахстане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416966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Минпросвещения РК, 2025/26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19856" y="1572768"/>
            <a:ext cx="2715768" cy="2926080"/>
          </a:xfrm>
          <a:prstGeom prst="roundRect">
            <a:avLst>
              <a:gd name="adj" fmla="val 336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5888" y="1828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54203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74,9 %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675888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грамотность в Акмолинской области — наименьшая в РК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75888" y="416966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Бюро нацстатистики, 2025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82512" y="1572768"/>
            <a:ext cx="2715768" cy="2926080"/>
          </a:xfrm>
          <a:prstGeom prst="roundRect">
            <a:avLst>
              <a:gd name="adj" fmla="val 336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38544" y="18288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19659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254203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6638544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поддержки скринридеров и офлайн у Bilimland и Online Mektep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638544" y="416966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доступности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продукт — пять режимов доступности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TeńEdu подстраивается под пользователя: при регистрации — короткий онбординг «Как тебе удобнее учиться?»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636776" cy="2148840"/>
          </a:xfrm>
          <a:prstGeom prst="roundRect">
            <a:avLst>
              <a:gd name="adj" fmla="val 558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9828" y="2084832"/>
            <a:ext cx="731520" cy="731520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24028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926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Слабовидящие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3291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озвучка, скринридеры, контраст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85416" y="1874520"/>
            <a:ext cx="1636776" cy="2148840"/>
          </a:xfrm>
          <a:prstGeom prst="roundRect">
            <a:avLst>
              <a:gd name="adj" fmla="val 558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38044" y="2084832"/>
            <a:ext cx="731520" cy="731520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224028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58568" y="2926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Слабослышащие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95144" y="3291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субтитры, визуальные уведомления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913632" y="1874520"/>
            <a:ext cx="1636776" cy="2148840"/>
          </a:xfrm>
          <a:prstGeom prst="roundRect">
            <a:avLst>
              <a:gd name="adj" fmla="val 558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66260" y="2084832"/>
            <a:ext cx="731520" cy="731520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224028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86784" y="2926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Дислексия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023360" y="3291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адаптированный шрифт, интервалы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641848" y="1874520"/>
            <a:ext cx="1636776" cy="2148840"/>
          </a:xfrm>
          <a:prstGeom prst="roundRect">
            <a:avLst>
              <a:gd name="adj" fmla="val 558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94476" y="2084832"/>
            <a:ext cx="731520" cy="731520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2240280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2926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Дети 8–12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51576" y="3291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упрощённый язык, геймификация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370064" y="1874520"/>
            <a:ext cx="1636776" cy="2148840"/>
          </a:xfrm>
          <a:prstGeom prst="roundRect">
            <a:avLst>
              <a:gd name="adj" fmla="val 558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822692" y="2084832"/>
            <a:ext cx="731520" cy="731520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2240280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43216" y="29260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79792" y="3291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всех остальных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E4D5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34340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24128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офлайн и на слабом интернете</a:t>
            </a:r>
            <a:endParaRPr lang="en-US" sz="12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34340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394960" y="43159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по номеру телефона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пользователя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901952"/>
            <a:ext cx="475488" cy="47548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56816" y="17830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185416" y="178308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88336" y="1901952"/>
            <a:ext cx="475488" cy="47548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688336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85416" y="24323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режима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5032" y="17830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913632" y="178308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6552" y="1901952"/>
            <a:ext cx="475488" cy="47548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13632" y="24323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13248" y="17830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641848" y="178308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901952"/>
            <a:ext cx="475488" cy="47548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41848" y="24323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41464" y="17830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7370064" y="178308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0E8A8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72984" y="190195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872984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70064" y="24323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8229600" cy="1572768"/>
          </a:xfrm>
          <a:prstGeom prst="roundRect">
            <a:avLst>
              <a:gd name="adj" fmla="val 5814"/>
            </a:avLst>
          </a:prstGeom>
          <a:solidFill>
            <a:srgbClr val="EEF4F4"/>
          </a:solidFill>
          <a:ln w="12700">
            <a:solidFill>
              <a:srgbClr val="0E8A8A"/>
            </a:solidFill>
            <a:prstDash val="dash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383280"/>
            <a:ext cx="502920" cy="5029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скриншотов платформы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5–10 минут · после каждого — тест · после прохождения всех модулей — сертификат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обучающих модулей в трёх треках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15768" cy="2468880"/>
          </a:xfrm>
          <a:prstGeom prst="roundRect">
            <a:avLst>
              <a:gd name="adj" fmla="val 37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566928" cy="566928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110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39572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навыки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с нуля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email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проверка информации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1554480"/>
            <a:ext cx="2715768" cy="2468880"/>
          </a:xfrm>
          <a:prstGeom prst="roundRect">
            <a:avLst>
              <a:gd name="adj" fmla="val 37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1783080"/>
            <a:ext cx="566928" cy="566928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91109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239572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сервисы для жизни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94176" y="29718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eGov.kz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Онлайн-банкинг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Интернет-безопасность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82512" y="1554480"/>
            <a:ext cx="2715768" cy="2468880"/>
          </a:xfrm>
          <a:prstGeom prst="roundRect">
            <a:avLst>
              <a:gd name="adj" fmla="val 37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38544" y="1783080"/>
            <a:ext cx="566928" cy="566928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110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38544" y="239572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модуль «Первые шаги»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56832" y="29718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8–12 лет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Упрощённый язык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E4D5C"/>
          </a:solidFill>
          <a:ln/>
        </p:spPr>
      </p:sp>
      <p:sp>
        <p:nvSpPr>
          <p:cNvPr id="21" name="Text 16"/>
          <p:cNvSpPr/>
          <p:nvPr/>
        </p:nvSpPr>
        <p:spPr>
          <a:xfrm>
            <a:off x="713232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· аудио · видео · офлайн</a:t>
            </a:r>
            <a:pPr indent="0" marL="0">
              <a:buNone/>
            </a:pPr>
            <a:r>
              <a:rPr lang="en-US" sz="12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Единый сертификат по завершении всех модулей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И ОХВАТ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охватим за год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95928" cy="1783080"/>
          </a:xfrm>
          <a:prstGeom prst="roundRect">
            <a:avLst>
              <a:gd name="adj" fmla="val 5128"/>
            </a:avLst>
          </a:prstGeom>
          <a:solidFill>
            <a:srgbClr val="0E4D5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0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49424"/>
            <a:ext cx="3447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49808" y="2871216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— очное обучение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1455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центр в селе, 9 рабочих мест (Акмолинская обл.)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572768"/>
            <a:ext cx="3995928" cy="1783080"/>
          </a:xfrm>
          <a:prstGeom prst="roundRect">
            <a:avLst>
              <a:gd name="adj" fmla="val 5128"/>
            </a:avLst>
          </a:prstGeom>
          <a:solidFill>
            <a:srgbClr val="0E4D5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105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5192" y="2249424"/>
            <a:ext cx="3447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4983480" y="2871216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 онлайн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83480" y="31455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доступна по всему Казахстану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Площадки пилотного тестирования (по типам ОВЗ):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950208"/>
            <a:ext cx="2002536" cy="713232"/>
          </a:xfrm>
          <a:prstGeom prst="roundRect">
            <a:avLst>
              <a:gd name="adj" fmla="val 1025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605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3950208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Школа-интернат №10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555748" y="3950208"/>
            <a:ext cx="2002536" cy="713232"/>
          </a:xfrm>
          <a:prstGeom prst="roundRect">
            <a:avLst>
              <a:gd name="adj" fmla="val 1025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416052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67812" y="3950208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«СУВАГ»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654296" y="3950208"/>
            <a:ext cx="2002536" cy="713232"/>
          </a:xfrm>
          <a:prstGeom prst="roundRect">
            <a:avLst>
              <a:gd name="adj" fmla="val 1025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16052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3950208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«Балам-Ай»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752844" y="3950208"/>
            <a:ext cx="2002536" cy="713232"/>
          </a:xfrm>
          <a:prstGeom prst="roundRect">
            <a:avLst>
              <a:gd name="adj" fmla="val 1025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16052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4908" y="3950208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КПИ фонда «Болашақ»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месяцев реализации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0" cy="0"/>
          </a:xfrm>
          <a:prstGeom prst="line">
            <a:avLst/>
          </a:prstGeom>
          <a:noFill/>
          <a:ln w="25400">
            <a:solidFill>
              <a:srgbClr val="CB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4728" y="2212848"/>
            <a:ext cx="237744" cy="237744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608" y="2670048"/>
            <a:ext cx="2157984" cy="1481328"/>
          </a:xfrm>
          <a:prstGeom prst="roundRect">
            <a:avLst>
              <a:gd name="adj" fmla="val 617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3480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3480" y="30906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готова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73480" y="3456432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модулей, тесты, сертификат, режимы доступности, офлайн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53128" y="2212848"/>
            <a:ext cx="237744" cy="237744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371600"/>
            <a:ext cx="2157984" cy="1481328"/>
          </a:xfrm>
          <a:prstGeom prst="roundRect">
            <a:avLst>
              <a:gd name="adj" fmla="val 617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499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17922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приложения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15798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для общего доступа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91528" y="2212848"/>
            <a:ext cx="237744" cy="237744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1408" y="2670048"/>
            <a:ext cx="2157984" cy="1481328"/>
          </a:xfrm>
          <a:prstGeom prst="roundRect">
            <a:avLst>
              <a:gd name="adj" fmla="val 617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50280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2026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50280" y="30906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и регионы РК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50280" y="3456432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очное обучение в селе, охват ОВЗ-площадок, масштабирование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 нами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90195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665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AITU College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3591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база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162763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190195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665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7136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AITU College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17136" y="23591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организационная поддержка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82512" y="162763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0256" y="190195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06654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79792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Школа-интернат №10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479792" y="23591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доступности (зрение)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3639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" y="341071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57530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429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«СУВАГ»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54480" y="3867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доступности (слух/речь)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419856" y="313639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0" y="341071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357530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7136" y="3429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«Балам-Ай»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17136" y="3867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геймификации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382512" y="3136392"/>
            <a:ext cx="2715768" cy="1325880"/>
          </a:xfrm>
          <a:prstGeom prst="roundRect">
            <a:avLst>
              <a:gd name="adj" fmla="val 689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620256" y="3410712"/>
            <a:ext cx="713232" cy="713232"/>
          </a:xfrm>
          <a:prstGeom prst="ellipse">
            <a:avLst/>
          </a:prstGeom>
          <a:solidFill>
            <a:srgbClr val="E6F2F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575304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79792" y="3429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 «Болашақ»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479792" y="3867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через КПИ в школах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3 000 000 ₸ — на что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1732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млн ₸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709160" y="178308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F4F8F8"/>
          </a:solidFill>
          <a:ln/>
        </p:spPr>
      </p:sp>
      <p:sp>
        <p:nvSpPr>
          <p:cNvPr id="8" name="Shape 5"/>
          <p:cNvSpPr/>
          <p:nvPr/>
        </p:nvSpPr>
        <p:spPr>
          <a:xfrm>
            <a:off x="4873752" y="1993392"/>
            <a:ext cx="182880" cy="18288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9" name="Text 6"/>
          <p:cNvSpPr/>
          <p:nvPr/>
        </p:nvSpPr>
        <p:spPr>
          <a:xfrm>
            <a:off x="5166360" y="17830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центра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18379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2 648 410 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20939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88,3 %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2496312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F4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873752" y="2706624"/>
            <a:ext cx="182880" cy="18288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24963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и сеть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25511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189 000 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06640" y="280720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6,3 %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9160" y="3209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F4F8F8"/>
          </a:solidFill>
          <a:ln/>
        </p:spPr>
      </p:sp>
      <p:sp>
        <p:nvSpPr>
          <p:cNvPr id="18" name="Shape 15"/>
          <p:cNvSpPr/>
          <p:nvPr/>
        </p:nvSpPr>
        <p:spPr>
          <a:xfrm>
            <a:off x="4873752" y="3419856"/>
            <a:ext cx="182880" cy="182880"/>
          </a:xfrm>
          <a:prstGeom prst="ellipse">
            <a:avLst/>
          </a:prstGeom>
          <a:solidFill>
            <a:srgbClr val="8FB9B9"/>
          </a:solidFill>
          <a:ln/>
        </p:spPr>
      </p:sp>
      <p:sp>
        <p:nvSpPr>
          <p:cNvPr id="19" name="Text 16"/>
          <p:cNvSpPr/>
          <p:nvPr/>
        </p:nvSpPr>
        <p:spPr>
          <a:xfrm>
            <a:off x="5166360" y="320954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Расходники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06640" y="32644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84 590 ₸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06640" y="35204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2,8 %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392277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F4F8F8"/>
          </a:solidFill>
          <a:ln/>
        </p:spPr>
      </p:sp>
      <p:sp>
        <p:nvSpPr>
          <p:cNvPr id="23" name="Shape 20"/>
          <p:cNvSpPr/>
          <p:nvPr/>
        </p:nvSpPr>
        <p:spPr>
          <a:xfrm>
            <a:off x="4873752" y="4133088"/>
            <a:ext cx="182880" cy="182880"/>
          </a:xfrm>
          <a:prstGeom prst="ellipse">
            <a:avLst/>
          </a:prstGeom>
          <a:solidFill>
            <a:srgbClr val="0E4D5C"/>
          </a:solidFill>
          <a:ln/>
        </p:spPr>
      </p:sp>
      <p:sp>
        <p:nvSpPr>
          <p:cNvPr id="24" name="Text 21"/>
          <p:cNvSpPr/>
          <p:nvPr/>
        </p:nvSpPr>
        <p:spPr>
          <a:xfrm>
            <a:off x="5166360" y="39227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IT-платформа (домен, SMS, AI API)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06640" y="39776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78 000 ₸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06640" y="42336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2,6 %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4645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грант · зарплата команды из средств не закладывается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4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26080"/>
            <a:ext cx="4023360" cy="4023360"/>
          </a:xfrm>
          <a:prstGeom prst="ellipse">
            <a:avLst/>
          </a:prstGeom>
          <a:solidFill>
            <a:srgbClr val="0E8A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474720" cy="3474720"/>
          </a:xfrm>
          <a:prstGeom prst="ellipse">
            <a:avLst/>
          </a:prstGeom>
          <a:solidFill>
            <a:srgbClr val="F2A9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 ПОСЛЕ ГРАНТА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продолжит работать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0A3B4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93392"/>
            <a:ext cx="640080" cy="640080"/>
          </a:xfrm>
          <a:prstGeom prst="ellipse">
            <a:avLst/>
          </a:prstGeom>
          <a:solidFill>
            <a:srgbClr val="0E55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743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и онлайн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остаётся доступной для всех после окончания финансирования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19856" y="1737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0A3B4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75888" y="1993392"/>
            <a:ext cx="640080" cy="640080"/>
          </a:xfrm>
          <a:prstGeom prst="ellipse">
            <a:avLst/>
          </a:prstGeom>
          <a:solidFill>
            <a:srgbClr val="0E556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1396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75888" y="2743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школы и НКО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75888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программы и открытие новых очных центров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82512" y="1737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0A3B4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38544" y="1993392"/>
            <a:ext cx="640080" cy="640080"/>
          </a:xfrm>
          <a:prstGeom prst="ellipse">
            <a:avLst/>
          </a:prstGeom>
          <a:solidFill>
            <a:srgbClr val="0E556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13969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2743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Гранты и партнёрства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638544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привлечение нового финансирования для роста охвата по РК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041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TeńEdu — тең мүмкіндік әркімге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TeńEdu</dc:title>
  <dc:subject>PptxGenJS Presentation</dc:subject>
  <dc:creator>Әбіл Еркежан Бағдатқызы</dc:creator>
  <cp:lastModifiedBy>Әбіл Еркежан Бағдатқызы</cp:lastModifiedBy>
  <cp:revision>1</cp:revision>
  <dcterms:created xsi:type="dcterms:W3CDTF">2026-06-16T00:27:08Z</dcterms:created>
  <dcterms:modified xsi:type="dcterms:W3CDTF">2026-06-16T00:27:08Z</dcterms:modified>
</cp:coreProperties>
</file>